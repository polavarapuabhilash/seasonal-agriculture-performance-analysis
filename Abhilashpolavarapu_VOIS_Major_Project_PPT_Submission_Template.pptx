
<file path=[Content_Types].xml><?xml version="1.0" encoding="utf-8"?>
<Types xmlns="http://schemas.openxmlformats.org/package/2006/content-types">
  <Default Extension="bin" ContentType="application/vnd.openxmlformats-officedocument.oleObject"/>
  <Default Extension="emf" ContentType="image/x-emf"/>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1"/>
  </p:notesMasterIdLst>
  <p:handoutMasterIdLst>
    <p:handoutMasterId r:id="rId22"/>
  </p:handoutMasterIdLst>
  <p:sldIdLst>
    <p:sldId id="338" r:id="rId5"/>
    <p:sldId id="327" r:id="rId6"/>
    <p:sldId id="315" r:id="rId7"/>
    <p:sldId id="329" r:id="rId8"/>
    <p:sldId id="302" r:id="rId9"/>
    <p:sldId id="339" r:id="rId10"/>
    <p:sldId id="340" r:id="rId11"/>
    <p:sldId id="344" r:id="rId12"/>
    <p:sldId id="345" r:id="rId13"/>
    <p:sldId id="346" r:id="rId14"/>
    <p:sldId id="347" r:id="rId15"/>
    <p:sldId id="348" r:id="rId16"/>
    <p:sldId id="341" r:id="rId17"/>
    <p:sldId id="342" r:id="rId18"/>
    <p:sldId id="343" r:id="rId19"/>
    <p:sldId id="30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85" autoAdjust="0"/>
    <p:restoredTop sz="95033" autoAdjust="0"/>
  </p:normalViewPr>
  <p:slideViewPr>
    <p:cSldViewPr snapToGrid="0">
      <p:cViewPr>
        <p:scale>
          <a:sx n="100" d="100"/>
          <a:sy n="100" d="100"/>
        </p:scale>
        <p:origin x="-58" y="-451"/>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9/10/2026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9/10/2026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9/10/2026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12.png"/><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hyperlink" Target="https://github.com/polavarapuabhilash/Seasonal-Agriculture-Performance-Analysis.git"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3.emf"/></Relationships>
</file>

<file path=ppt/slides/_rels/slide16.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223157" y="3583914"/>
            <a:ext cx="7668986" cy="861497"/>
          </a:xfrm>
        </p:spPr>
        <p:txBody>
          <a:bodyPr vert="horz" lIns="91440" tIns="45720" rIns="91440" bIns="45720" rtlCol="0" anchor="t">
            <a:normAutofit/>
          </a:bodyPr>
          <a:lstStyle/>
          <a:p>
            <a:pPr algn="ctr"/>
            <a:r>
              <a:rPr lang="en-US" sz="1800" b="0" dirty="0">
                <a:solidFill>
                  <a:schemeClr val="tx1"/>
                </a:solidFill>
              </a:rPr>
              <a:t>Student Name: Abhilash Polavarapu</a:t>
            </a:r>
            <a:endParaRPr lang="en-IN" sz="1800" b="0" dirty="0">
              <a:solidFill>
                <a:schemeClr val="tx1"/>
              </a:solidFill>
            </a:endParaRPr>
          </a:p>
          <a:p>
            <a:pPr algn="ctr"/>
            <a:r>
              <a:rPr lang="en-US" sz="1800" b="0" dirty="0">
                <a:solidFill>
                  <a:schemeClr val="tx1"/>
                </a:solidFill>
              </a:rPr>
              <a:t>College Name- Vasireddy Venkatadri Institute of Technology</a:t>
            </a:r>
            <a:endParaRPr lang="en-IN" sz="1800"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10530410" cy="743448"/>
          </a:xfrm>
        </p:spPr>
        <p:txBody>
          <a:bodyPr>
            <a:normAutofit/>
          </a:bodyPr>
          <a:lstStyle/>
          <a:p>
            <a:r>
              <a:rPr lang="en-GB" sz="3200" dirty="0"/>
              <a:t>Project Title –Seasonal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76066" y="4588993"/>
            <a:ext cx="5583354" cy="369332"/>
          </a:xfrm>
          <a:prstGeom prst="rect">
            <a:avLst/>
          </a:prstGeom>
          <a:noFill/>
        </p:spPr>
        <p:txBody>
          <a:bodyPr wrap="square" rtlCol="0">
            <a:spAutoFit/>
          </a:bodyPr>
          <a:lstStyle/>
          <a:p>
            <a:r>
              <a:rPr lang="en-US" b="1" dirty="0"/>
              <a:t>AICTE STU ID : </a:t>
            </a:r>
            <a:r>
              <a:rPr lang="en-IN" b="1" dirty="0"/>
              <a:t>STU6a69f9059da2f1785329925</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36764" y="2114524"/>
            <a:ext cx="6431280" cy="4357396"/>
          </a:xfrm>
        </p:spPr>
        <p:txBody>
          <a:bodyPr vert="horz" lIns="91440" tIns="45720" rIns="91440" bIns="45720" rtlCol="0" anchor="t">
            <a:normAutofit fontScale="70000" lnSpcReduction="20000"/>
          </a:bodyPr>
          <a:lstStyle/>
          <a:p>
            <a:r>
              <a:rPr lang="en-IN" sz="2800" dirty="0"/>
              <a:t>Agricultural activities are influenced by seasonal variations in environmental conditions, farming practices, resource availability and market conditions. As a result, agricultural performance may differ from one season to another. </a:t>
            </a:r>
          </a:p>
          <a:p>
            <a:r>
              <a:rPr lang="en-IN" sz="2800" dirty="0"/>
              <a:t>However, raw agricultural data does not clearly explain how agricultural performance changes across seasons or what patterns can be observed in different seasonal conditions. </a:t>
            </a:r>
          </a:p>
          <a:p>
            <a:r>
              <a:rPr lang="en-IN" sz="2800" dirty="0"/>
              <a:t>The problem is to </a:t>
            </a:r>
            <a:r>
              <a:rPr lang="en-IN" sz="2800" dirty="0" err="1"/>
              <a:t>analyze</a:t>
            </a:r>
            <a:r>
              <a:rPr lang="en-IN" sz="2800" dirty="0"/>
              <a:t> the given agricultural dataset and investigate seasonal differences in agricultural performance by identifying meaningful patterns, trends, relationships and variations within the available data.</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675957" y="933875"/>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75957" y="759191"/>
            <a:ext cx="6276109" cy="830997"/>
          </a:xfrm>
        </p:spPr>
        <p:txBody>
          <a:bodyPr>
            <a:normAutofit fontScale="90000"/>
          </a:bodyPr>
          <a:lstStyle/>
          <a:p>
            <a:r>
              <a:rPr lang="en-GB" dirty="0"/>
              <a:t>Project Description</a:t>
            </a: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ED97F2BD-0DFD-3BD5-1D7A-B6AD4B22724F}"/>
              </a:ext>
            </a:extLst>
          </p:cNvPr>
          <p:cNvSpPr txBox="1"/>
          <p:nvPr/>
        </p:nvSpPr>
        <p:spPr>
          <a:xfrm>
            <a:off x="1520890" y="1903445"/>
            <a:ext cx="7100596" cy="4247317"/>
          </a:xfrm>
          <a:prstGeom prst="rect">
            <a:avLst/>
          </a:prstGeom>
          <a:noFill/>
        </p:spPr>
        <p:txBody>
          <a:bodyPr wrap="square" rtlCol="0">
            <a:spAutoFit/>
          </a:bodyPr>
          <a:lstStyle/>
          <a:p>
            <a:pPr marL="285750" indent="-285750">
              <a:buFont typeface="Wingdings" panose="05000000000000000000" pitchFamily="2" charset="2"/>
              <a:buChar char="§"/>
            </a:pPr>
            <a:r>
              <a:rPr lang="en-IN" dirty="0"/>
              <a:t>The project will address the analysis of agricultural data to support decision-making on different seasons, geography, and agricultural conditions. </a:t>
            </a:r>
          </a:p>
          <a:p>
            <a:pPr marL="285750" indent="-285750">
              <a:buFont typeface="Wingdings" panose="05000000000000000000" pitchFamily="2" charset="2"/>
              <a:buChar char="§"/>
            </a:pPr>
            <a:r>
              <a:rPr lang="en-IN" dirty="0"/>
              <a:t>The work will focus on researching farming practices, environmental characteristics, resource consumption, crop yields, and financial performance.</a:t>
            </a:r>
          </a:p>
          <a:p>
            <a:pPr marL="285750" indent="-285750">
              <a:buFont typeface="Wingdings" panose="05000000000000000000" pitchFamily="2" charset="2"/>
              <a:buChar char="§"/>
            </a:pPr>
            <a:r>
              <a:rPr lang="en-IN" dirty="0"/>
              <a:t>The project will include data preparation steps to ensure that the information is properly structured. In addition, the work will address the analysis of seasonal trends and patterns, evaluate the performance of agriculture in different seasons, and identify relationships between environmental conditions and agricultural practices. </a:t>
            </a:r>
          </a:p>
          <a:p>
            <a:pPr marL="285750" indent="-285750">
              <a:buFont typeface="Wingdings" panose="05000000000000000000" pitchFamily="2" charset="2"/>
              <a:buChar char="§"/>
            </a:pPr>
            <a:r>
              <a:rPr lang="en-IN" dirty="0"/>
              <a:t>Statistical and visual data presentation methods will be applied to explore the data and provide evidence for agricultural decision-making.</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758094"/>
            <a:ext cx="7904481" cy="4223289"/>
          </a:xfrm>
        </p:spPr>
        <p:txBody>
          <a:bodyPr>
            <a:normAutofit fontScale="62500" lnSpcReduction="20000"/>
          </a:bodyPr>
          <a:lstStyle/>
          <a:p>
            <a:pPr lvl="0"/>
            <a:r>
              <a:rPr lang="en-US" sz="3600" dirty="0"/>
              <a:t>Farmers – To gain insights on seasonal performances and trends.</a:t>
            </a:r>
          </a:p>
          <a:p>
            <a:pPr lvl="0"/>
            <a:r>
              <a:rPr lang="en-US" sz="3600" dirty="0"/>
              <a:t>Agricultural Planners – To plan and forecast seasonal agricultural activities effectively.</a:t>
            </a:r>
          </a:p>
          <a:p>
            <a:pPr lvl="0"/>
            <a:r>
              <a:rPr lang="en-US" sz="3600" dirty="0"/>
              <a:t>Agricultural Stakeholders – To compare performance and consumptions of resources during different seasons</a:t>
            </a:r>
          </a:p>
          <a:p>
            <a:pPr lvl="0"/>
            <a:r>
              <a:rPr lang="en-US" sz="3600" dirty="0"/>
              <a:t>Researchers – To establish scientific relations between environmental factors and agricultural performances.</a:t>
            </a:r>
          </a:p>
          <a:p>
            <a:pPr lvl="0"/>
            <a:r>
              <a:rPr lang="en-US" sz="3600" dirty="0"/>
              <a:t>Students &amp; Data Analysts – To explore and analyze agricultural data in depth.</a:t>
            </a: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078876" y="1246961"/>
            <a:ext cx="9027702" cy="5243448"/>
          </a:xfrm>
        </p:spPr>
        <p:txBody>
          <a:bodyPr/>
          <a:lstStyle/>
          <a:p>
            <a:pPr lvl="0"/>
            <a:r>
              <a:rPr lang="en-IN" b="1" dirty="0"/>
              <a:t>Python</a:t>
            </a:r>
            <a:r>
              <a:rPr lang="en-IN" dirty="0"/>
              <a:t> – Data analysis and processing</a:t>
            </a:r>
          </a:p>
          <a:p>
            <a:pPr lvl="0"/>
            <a:r>
              <a:rPr lang="en-IN" b="1" dirty="0"/>
              <a:t>Pandas</a:t>
            </a:r>
            <a:r>
              <a:rPr lang="en-IN" dirty="0"/>
              <a:t> – Data cleaning and manipulation</a:t>
            </a:r>
          </a:p>
          <a:p>
            <a:pPr lvl="0"/>
            <a:r>
              <a:rPr lang="en-IN" b="1" dirty="0"/>
              <a:t>NumPy</a:t>
            </a:r>
            <a:r>
              <a:rPr lang="en-IN" dirty="0"/>
              <a:t> – Numerical analysis</a:t>
            </a:r>
          </a:p>
          <a:p>
            <a:pPr lvl="0"/>
            <a:r>
              <a:rPr lang="en-IN" b="1" dirty="0"/>
              <a:t>Matplotlib / Seaborn</a:t>
            </a:r>
            <a:r>
              <a:rPr lang="en-IN" dirty="0"/>
              <a:t> – Data visualization</a:t>
            </a:r>
          </a:p>
          <a:p>
            <a:pPr lvl="0"/>
            <a:r>
              <a:rPr lang="en-IN" b="1" dirty="0"/>
              <a:t>Jupyter Notebook</a:t>
            </a:r>
            <a:r>
              <a:rPr lang="en-IN" dirty="0"/>
              <a:t> – Development and documentation of the analysis</a:t>
            </a:r>
          </a:p>
          <a:p>
            <a:pPr lvl="0"/>
            <a:r>
              <a:rPr lang="en-IN" b="1" dirty="0"/>
              <a:t>Statistical Analysis Techniques</a:t>
            </a:r>
            <a:r>
              <a:rPr lang="en-IN" dirty="0"/>
              <a:t> – Identifying trends, relationships, and variations</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F47727CD-58E4-D41C-8962-B6DF8D832680}"/>
              </a:ext>
            </a:extLst>
          </p:cNvPr>
          <p:cNvPicPr>
            <a:picLocks noChangeAspect="1"/>
          </p:cNvPicPr>
          <p:nvPr/>
        </p:nvPicPr>
        <p:blipFill>
          <a:blip r:embed="rId3"/>
          <a:stretch>
            <a:fillRect/>
          </a:stretch>
        </p:blipFill>
        <p:spPr>
          <a:xfrm>
            <a:off x="88160" y="1189333"/>
            <a:ext cx="5461844" cy="5164494"/>
          </a:xfrm>
          <a:prstGeom prst="rect">
            <a:avLst/>
          </a:prstGeom>
        </p:spPr>
      </p:pic>
      <p:sp>
        <p:nvSpPr>
          <p:cNvPr id="3" name="TextBox 2">
            <a:extLst>
              <a:ext uri="{FF2B5EF4-FFF2-40B4-BE49-F238E27FC236}">
                <a16:creationId xmlns:a16="http://schemas.microsoft.com/office/drawing/2014/main" id="{2B2A5C67-84FE-C8E8-D57A-3242B710E279}"/>
              </a:ext>
            </a:extLst>
          </p:cNvPr>
          <p:cNvSpPr txBox="1"/>
          <p:nvPr/>
        </p:nvSpPr>
        <p:spPr>
          <a:xfrm>
            <a:off x="6231155" y="1786421"/>
            <a:ext cx="4788298" cy="4247317"/>
          </a:xfrm>
          <a:prstGeom prst="rect">
            <a:avLst/>
          </a:prstGeom>
          <a:noFill/>
        </p:spPr>
        <p:txBody>
          <a:bodyPr wrap="square" rtlCol="0">
            <a:spAutoFit/>
          </a:bodyPr>
          <a:lstStyle/>
          <a:p>
            <a:r>
              <a:rPr lang="en-IN" dirty="0"/>
              <a:t>By this chart,</a:t>
            </a:r>
          </a:p>
          <a:p>
            <a:pPr marL="285750" indent="-285750">
              <a:buFont typeface="Wingdings" panose="05000000000000000000" pitchFamily="2" charset="2"/>
              <a:buChar char="Ø"/>
            </a:pPr>
            <a:r>
              <a:rPr lang="en-IN" dirty="0"/>
              <a:t>it is evident that the distribution of the crop is taking place according to the availability of crops to till. According to the Chart,</a:t>
            </a:r>
          </a:p>
          <a:p>
            <a:pPr marL="285750" indent="-285750">
              <a:buFont typeface="Wingdings" panose="05000000000000000000" pitchFamily="2" charset="2"/>
              <a:buChar char="Ø"/>
            </a:pPr>
            <a:r>
              <a:rPr lang="en-IN" dirty="0"/>
              <a:t>Rice holds the highest crop distribution, with a share of 17.2%. Wheat accounts for 15.4% of the total crop distribution.</a:t>
            </a:r>
          </a:p>
          <a:p>
            <a:pPr marL="285750" indent="-285750">
              <a:buFont typeface="Wingdings" panose="05000000000000000000" pitchFamily="2" charset="2"/>
              <a:buChar char="Ø"/>
            </a:pPr>
            <a:r>
              <a:rPr lang="en-IN" dirty="0"/>
              <a:t>Cotton and Pulses comprise 12.7% and 12.4%, respectively. The groundnut has 10.6%, while Chilli has 10.3% of the total crop distribution. </a:t>
            </a:r>
          </a:p>
          <a:p>
            <a:pPr marL="285750" indent="-285750">
              <a:buFont typeface="Wingdings" panose="05000000000000000000" pitchFamily="2" charset="2"/>
              <a:buChar char="Ø"/>
            </a:pPr>
            <a:r>
              <a:rPr lang="en-IN" dirty="0"/>
              <a:t>Sugarcane, on the other hand, has the lowest percentage of total crop distribution, which is 7.6%. </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Text Placeholder 5">
            <a:extLst>
              <a:ext uri="{FF2B5EF4-FFF2-40B4-BE49-F238E27FC236}">
                <a16:creationId xmlns:a16="http://schemas.microsoft.com/office/drawing/2014/main" id="{D1D1CEDB-29AE-180E-CA36-B0839C67ED85}"/>
              </a:ext>
            </a:extLst>
          </p:cNvPr>
          <p:cNvSpPr>
            <a:spLocks noGrp="1"/>
          </p:cNvSpPr>
          <p:nvPr>
            <p:ph type="body" sz="quarter" idx="12"/>
          </p:nvPr>
        </p:nvSpPr>
        <p:spPr>
          <a:xfrm>
            <a:off x="5570376" y="1648619"/>
            <a:ext cx="5094652" cy="4145692"/>
          </a:xfrm>
        </p:spPr>
        <p:txBody>
          <a:bodyPr>
            <a:normAutofit fontScale="92500" lnSpcReduction="20000"/>
          </a:bodyPr>
          <a:lstStyle/>
          <a:p>
            <a:pPr marL="0" indent="0">
              <a:buNone/>
            </a:pPr>
            <a:r>
              <a:rPr lang="en-IN" dirty="0"/>
              <a:t>By this Chart,</a:t>
            </a:r>
          </a:p>
          <a:p>
            <a:r>
              <a:rPr lang="en-IN" dirty="0"/>
              <a:t>Kharif season has the highest percentage in distribution, which is 44.5%. </a:t>
            </a:r>
          </a:p>
          <a:p>
            <a:r>
              <a:rPr lang="en-IN" dirty="0"/>
              <a:t>Rabi season has the next level of distribution, which is 40.7%. Zaid season has the lowest percentage in the distribution, which is 14.8%. </a:t>
            </a:r>
          </a:p>
          <a:p>
            <a:r>
              <a:rPr lang="en-IN" dirty="0"/>
              <a:t>From this chart, it can be observed that approximately 85.2% lies between Kharif and Rabi, and the remaining amount is covered by Zaid season. </a:t>
            </a:r>
          </a:p>
          <a:p>
            <a:r>
              <a:rPr lang="en-IN" dirty="0"/>
              <a:t>So that, it can be concluded the majority of the data is occupied by the first two seasons, while the last one has a significant amount of contribution.</a:t>
            </a:r>
          </a:p>
        </p:txBody>
      </p:sp>
      <p:pic>
        <p:nvPicPr>
          <p:cNvPr id="9" name="Picture 8">
            <a:extLst>
              <a:ext uri="{FF2B5EF4-FFF2-40B4-BE49-F238E27FC236}">
                <a16:creationId xmlns:a16="http://schemas.microsoft.com/office/drawing/2014/main" id="{C121635F-0BEA-B451-2879-B5D88F892D63}"/>
              </a:ext>
            </a:extLst>
          </p:cNvPr>
          <p:cNvPicPr>
            <a:picLocks noChangeAspect="1"/>
          </p:cNvPicPr>
          <p:nvPr/>
        </p:nvPicPr>
        <p:blipFill>
          <a:blip r:embed="rId3"/>
          <a:stretch>
            <a:fillRect/>
          </a:stretch>
        </p:blipFill>
        <p:spPr>
          <a:xfrm>
            <a:off x="171903" y="1493451"/>
            <a:ext cx="5195889" cy="5164494"/>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 Placeholder 2">
            <a:extLst>
              <a:ext uri="{FF2B5EF4-FFF2-40B4-BE49-F238E27FC236}">
                <a16:creationId xmlns:a16="http://schemas.microsoft.com/office/drawing/2014/main" id="{9A18718D-4613-AB9E-AFFD-B7A285A693C4}"/>
              </a:ext>
            </a:extLst>
          </p:cNvPr>
          <p:cNvSpPr>
            <a:spLocks noGrp="1"/>
          </p:cNvSpPr>
          <p:nvPr>
            <p:ph type="body" sz="quarter" idx="12"/>
          </p:nvPr>
        </p:nvSpPr>
        <p:spPr>
          <a:xfrm>
            <a:off x="7155496" y="1355789"/>
            <a:ext cx="4511823" cy="4690448"/>
          </a:xfrm>
        </p:spPr>
        <p:txBody>
          <a:bodyPr>
            <a:normAutofit fontScale="77500" lnSpcReduction="20000"/>
          </a:bodyPr>
          <a:lstStyle/>
          <a:p>
            <a:pPr marL="0" indent="0">
              <a:buNone/>
            </a:pPr>
            <a:r>
              <a:rPr lang="en-IN" dirty="0"/>
              <a:t>Based on this chart,</a:t>
            </a:r>
          </a:p>
          <a:p>
            <a:r>
              <a:rPr lang="en-IN" dirty="0"/>
              <a:t>Rice possesses the highest number of occurrences in farms from all seasons with the maximum occurring in Kharif (~315).</a:t>
            </a:r>
          </a:p>
          <a:p>
            <a:r>
              <a:rPr lang="en-IN" dirty="0"/>
              <a:t>Meanwhile, wheat has the second-highest occurrences of cultivation for Kharif (~292) and Rabi (~237) but drops considerably in Zaid (~85).</a:t>
            </a:r>
          </a:p>
          <a:p>
            <a:r>
              <a:rPr lang="en-IN" dirty="0"/>
              <a:t>Maize has a similar pattern to that of wheat, only with a lower count of occurrences, and sugarcane records the lowest number of any crop’s occurrences for both Kharif and Rabi with a comparatively low count for Zaid as well. </a:t>
            </a:r>
          </a:p>
          <a:p>
            <a:r>
              <a:rPr lang="en-IN" dirty="0"/>
              <a:t>Overall, it is seen that the occurrences of cultivation for Kharif and Rabi are substantially higher than those of Zaid for most crops.</a:t>
            </a:r>
          </a:p>
        </p:txBody>
      </p:sp>
      <p:pic>
        <p:nvPicPr>
          <p:cNvPr id="9" name="Picture 8">
            <a:extLst>
              <a:ext uri="{FF2B5EF4-FFF2-40B4-BE49-F238E27FC236}">
                <a16:creationId xmlns:a16="http://schemas.microsoft.com/office/drawing/2014/main" id="{34B6D81D-6060-09AC-7E07-B0FC87B437CC}"/>
              </a:ext>
            </a:extLst>
          </p:cNvPr>
          <p:cNvPicPr>
            <a:picLocks noChangeAspect="1"/>
          </p:cNvPicPr>
          <p:nvPr/>
        </p:nvPicPr>
        <p:blipFill>
          <a:blip r:embed="rId3"/>
          <a:stretch>
            <a:fillRect/>
          </a:stretch>
        </p:blipFill>
        <p:spPr>
          <a:xfrm>
            <a:off x="159703" y="1275371"/>
            <a:ext cx="6995793" cy="5293069"/>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5BE679BF-AF3F-6EF7-4BF3-0C9209A82593}"/>
              </a:ext>
            </a:extLst>
          </p:cNvPr>
          <p:cNvPicPr>
            <a:picLocks noChangeAspect="1"/>
          </p:cNvPicPr>
          <p:nvPr/>
        </p:nvPicPr>
        <p:blipFill>
          <a:blip r:embed="rId3"/>
          <a:stretch>
            <a:fillRect/>
          </a:stretch>
        </p:blipFill>
        <p:spPr>
          <a:xfrm>
            <a:off x="0" y="1201586"/>
            <a:ext cx="7259216" cy="5285825"/>
          </a:xfrm>
          <a:prstGeom prst="rect">
            <a:avLst/>
          </a:prstGeom>
        </p:spPr>
      </p:pic>
      <p:sp>
        <p:nvSpPr>
          <p:cNvPr id="9" name="Text Placeholder 8">
            <a:extLst>
              <a:ext uri="{FF2B5EF4-FFF2-40B4-BE49-F238E27FC236}">
                <a16:creationId xmlns:a16="http://schemas.microsoft.com/office/drawing/2014/main" id="{3D2AB622-CA74-A28A-334A-8FB369BEA3D4}"/>
              </a:ext>
            </a:extLst>
          </p:cNvPr>
          <p:cNvSpPr>
            <a:spLocks noGrp="1"/>
          </p:cNvSpPr>
          <p:nvPr>
            <p:ph type="body" sz="quarter" idx="12"/>
          </p:nvPr>
        </p:nvSpPr>
        <p:spPr>
          <a:xfrm>
            <a:off x="7259216" y="1461250"/>
            <a:ext cx="4478694" cy="4195164"/>
          </a:xfrm>
        </p:spPr>
        <p:txBody>
          <a:bodyPr>
            <a:normAutofit fontScale="70000" lnSpcReduction="20000"/>
          </a:bodyPr>
          <a:lstStyle/>
          <a:p>
            <a:pPr marL="0" indent="0">
              <a:buNone/>
            </a:pPr>
            <a:r>
              <a:rPr lang="en-IN" dirty="0"/>
              <a:t>From this chart,</a:t>
            </a:r>
          </a:p>
          <a:p>
            <a:r>
              <a:rPr lang="en-IN" dirty="0"/>
              <a:t>Sugarcane has the largest production volume and variability among other crops.</a:t>
            </a:r>
          </a:p>
          <a:p>
            <a:r>
              <a:rPr lang="en-IN" dirty="0"/>
              <a:t>There is a significant number of high-value outliers for this crop, which are in the range of above 1,200 tonnes and approximately 1,400 tonnes.</a:t>
            </a:r>
          </a:p>
          <a:p>
            <a:r>
              <a:rPr lang="en-IN" dirty="0"/>
              <a:t>Wheat, Maize, and Rice appear to have a moderate production volume, with a few outliers. </a:t>
            </a:r>
          </a:p>
          <a:p>
            <a:r>
              <a:rPr lang="en-IN" dirty="0"/>
              <a:t>Pulses, Cotton, Chilli, and Groundnut account for a lower production volume, and they seem to be relatively consistent. Thus, it is possible to conclude that the chart above demonstrates that for Sugarcane, production volumes are much higher, on average, than for other types of crops, and there is a higher variability of these volumes.</a:t>
            </a:r>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 Placeholder 2">
            <a:extLst>
              <a:ext uri="{FF2B5EF4-FFF2-40B4-BE49-F238E27FC236}">
                <a16:creationId xmlns:a16="http://schemas.microsoft.com/office/drawing/2014/main" id="{838EC6A1-FF42-0EAF-93EC-3E6EB00FA4B5}"/>
              </a:ext>
            </a:extLst>
          </p:cNvPr>
          <p:cNvSpPr>
            <a:spLocks noGrp="1"/>
          </p:cNvSpPr>
          <p:nvPr>
            <p:ph type="body" sz="quarter" idx="12"/>
          </p:nvPr>
        </p:nvSpPr>
        <p:spPr>
          <a:xfrm>
            <a:off x="7689255" y="1648618"/>
            <a:ext cx="4275138" cy="3560763"/>
          </a:xfrm>
        </p:spPr>
        <p:txBody>
          <a:bodyPr>
            <a:normAutofit fontScale="77500" lnSpcReduction="20000"/>
          </a:bodyPr>
          <a:lstStyle/>
          <a:p>
            <a:r>
              <a:rPr lang="en-IN" dirty="0"/>
              <a:t>By this chart,</a:t>
            </a:r>
          </a:p>
          <a:p>
            <a:r>
              <a:rPr lang="en-IN" dirty="0"/>
              <a:t>The values of rainfall are distributed roughly between 100 mm and 1,400 mm. </a:t>
            </a:r>
          </a:p>
          <a:p>
            <a:r>
              <a:rPr lang="en-IN" dirty="0"/>
              <a:t>The highest concentration of rainfall is between 350-500 mm. There is a second concentration of rainfall between 700-900 mm. </a:t>
            </a:r>
          </a:p>
          <a:p>
            <a:r>
              <a:rPr lang="en-IN" dirty="0"/>
              <a:t>Further, it decreases and becomes lower than 1,000 mm </a:t>
            </a:r>
            <a:r>
              <a:rPr lang="en-IN" dirty="0" err="1"/>
              <a:t>Thus,that</a:t>
            </a:r>
            <a:r>
              <a:rPr lang="en-IN" dirty="0"/>
              <a:t> over 1,000 mm it is a rarity to see a high amount of rainfall. As a result, it is not so common to observe rainfall over 1,200 mm, but it is more common to observe medium rainfall compared to high.</a:t>
            </a:r>
          </a:p>
          <a:p>
            <a:r>
              <a:rPr lang="en-IN" dirty="0"/>
              <a:t>It helps for cropping irrigation.</a:t>
            </a:r>
          </a:p>
        </p:txBody>
      </p:sp>
      <p:pic>
        <p:nvPicPr>
          <p:cNvPr id="6" name="Picture 5">
            <a:extLst>
              <a:ext uri="{FF2B5EF4-FFF2-40B4-BE49-F238E27FC236}">
                <a16:creationId xmlns:a16="http://schemas.microsoft.com/office/drawing/2014/main" id="{126BD1E8-A5C5-89FE-5067-5C2BAC0E9B7B}"/>
              </a:ext>
            </a:extLst>
          </p:cNvPr>
          <p:cNvPicPr>
            <a:picLocks noChangeAspect="1"/>
          </p:cNvPicPr>
          <p:nvPr/>
        </p:nvPicPr>
        <p:blipFill>
          <a:blip r:embed="rId3"/>
          <a:stretch>
            <a:fillRect/>
          </a:stretch>
        </p:blipFill>
        <p:spPr>
          <a:xfrm>
            <a:off x="57221" y="1440045"/>
            <a:ext cx="7547964" cy="5010291"/>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E5DB7-36D8-F65F-1747-91B6E21313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BC8B380-4110-B088-DA14-C8B64C76BC39}"/>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0CA17608-54EB-DE8C-DB3B-11B0D312F460}"/>
              </a:ext>
            </a:extLst>
          </p:cNvPr>
          <p:cNvSpPr>
            <a:spLocks noGrp="1"/>
          </p:cNvSpPr>
          <p:nvPr>
            <p:ph type="title"/>
          </p:nvPr>
        </p:nvSpPr>
        <p:spPr>
          <a:xfrm>
            <a:off x="675957" y="21670"/>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2A70B36C-FF41-A9C0-04A0-BF090D59D72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D832B16-B7B2-331F-7D6A-E5434DF66C5C}"/>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4EA5AE21-55D8-E99A-5108-51F9370245EF}"/>
              </a:ext>
            </a:extLst>
          </p:cNvPr>
          <p:cNvPicPr>
            <a:picLocks noChangeAspect="1"/>
          </p:cNvPicPr>
          <p:nvPr/>
        </p:nvPicPr>
        <p:blipFill>
          <a:blip r:embed="rId3"/>
          <a:stretch>
            <a:fillRect/>
          </a:stretch>
        </p:blipFill>
        <p:spPr>
          <a:xfrm>
            <a:off x="36436" y="829223"/>
            <a:ext cx="6755362" cy="6007107"/>
          </a:xfrm>
          <a:prstGeom prst="rect">
            <a:avLst/>
          </a:prstGeom>
        </p:spPr>
      </p:pic>
      <p:sp>
        <p:nvSpPr>
          <p:cNvPr id="9" name="Text Placeholder 8">
            <a:extLst>
              <a:ext uri="{FF2B5EF4-FFF2-40B4-BE49-F238E27FC236}">
                <a16:creationId xmlns:a16="http://schemas.microsoft.com/office/drawing/2014/main" id="{E97E37B3-00FA-8650-C3AF-2DE80BA4ADD0}"/>
              </a:ext>
            </a:extLst>
          </p:cNvPr>
          <p:cNvSpPr>
            <a:spLocks noGrp="1"/>
          </p:cNvSpPr>
          <p:nvPr>
            <p:ph type="body" sz="quarter" idx="12"/>
          </p:nvPr>
        </p:nvSpPr>
        <p:spPr>
          <a:xfrm>
            <a:off x="7499739" y="1792774"/>
            <a:ext cx="4275138" cy="3560763"/>
          </a:xfrm>
        </p:spPr>
        <p:txBody>
          <a:bodyPr>
            <a:normAutofit fontScale="62500" lnSpcReduction="20000"/>
          </a:bodyPr>
          <a:lstStyle/>
          <a:p>
            <a:r>
              <a:rPr lang="en-IN" dirty="0"/>
              <a:t>By this chart,</a:t>
            </a:r>
          </a:p>
          <a:p>
            <a:r>
              <a:rPr lang="en-IN" dirty="0"/>
              <a:t>Yield and Profit have a clear positive relationship, as higher yield leads to higher profit. Yield also has a positive relationship with Rainfall, although the data points are widely scattered, implying that rainfall has little impact on the yield. </a:t>
            </a:r>
          </a:p>
          <a:p>
            <a:r>
              <a:rPr lang="en-IN" dirty="0"/>
              <a:t>Temperature, on the other hand, has a weak relationship with both Yield and Profit, as there are data points at all levels of temperature.</a:t>
            </a:r>
          </a:p>
          <a:p>
            <a:r>
              <a:rPr lang="en-IN" dirty="0"/>
              <a:t>Finally, Water usage also has a wide range, with no obvious relationship to yield. The diagonal panels provide distributional summaries for each variable, while the scatter plots display the relationships between the variables. </a:t>
            </a:r>
          </a:p>
          <a:p>
            <a:r>
              <a:rPr lang="en-IN" dirty="0"/>
              <a:t>In general, this chart suggests that yield is an important factor in determining agricultural profit, while other variables have more mixed relationships.</a:t>
            </a:r>
          </a:p>
        </p:txBody>
      </p:sp>
    </p:spTree>
    <p:extLst>
      <p:ext uri="{BB962C8B-B14F-4D97-AF65-F5344CB8AC3E}">
        <p14:creationId xmlns:p14="http://schemas.microsoft.com/office/powerpoint/2010/main" val="3343793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1D3712-9876-BA3A-87B0-C5185C58C18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5D2B3B9-F15E-9CB5-2678-99348D476FDA}"/>
              </a:ext>
            </a:extLst>
          </p:cNvPr>
          <p:cNvPicPr>
            <a:picLocks noChangeAspect="1"/>
          </p:cNvPicPr>
          <p:nvPr/>
        </p:nvPicPr>
        <p:blipFill>
          <a:blip r:embed="rId2"/>
          <a:stretch>
            <a:fillRect/>
          </a:stretch>
        </p:blipFill>
        <p:spPr>
          <a:xfrm>
            <a:off x="1" y="363946"/>
            <a:ext cx="12192000" cy="6494054"/>
          </a:xfrm>
          <a:prstGeom prst="rect">
            <a:avLst/>
          </a:prstGeom>
        </p:spPr>
      </p:pic>
      <p:pic>
        <p:nvPicPr>
          <p:cNvPr id="5" name="Picture 4">
            <a:extLst>
              <a:ext uri="{FF2B5EF4-FFF2-40B4-BE49-F238E27FC236}">
                <a16:creationId xmlns:a16="http://schemas.microsoft.com/office/drawing/2014/main" id="{49B8A175-9272-5D16-85E7-7100749A9550}"/>
              </a:ext>
            </a:extLst>
          </p:cNvPr>
          <p:cNvPicPr>
            <a:picLocks noChangeAspect="1"/>
          </p:cNvPicPr>
          <p:nvPr/>
        </p:nvPicPr>
        <p:blipFill rotWithShape="1">
          <a:blip r:embed="rId3"/>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EB95C3D9-B4CC-A225-191A-B74882FC21D5}"/>
              </a:ext>
            </a:extLst>
          </p:cNvPr>
          <p:cNvSpPr>
            <a:spLocks noGrp="1"/>
          </p:cNvSpPr>
          <p:nvPr>
            <p:ph type="title"/>
          </p:nvPr>
        </p:nvSpPr>
        <p:spPr>
          <a:xfrm>
            <a:off x="0" y="-164984"/>
            <a:ext cx="2649894" cy="556922"/>
          </a:xfrm>
        </p:spPr>
        <p:txBody>
          <a:bodyPr>
            <a:normAutofit fontScale="90000"/>
          </a:bodyPr>
          <a:lstStyle/>
          <a:p>
            <a:r>
              <a:rPr lang="en-GB" dirty="0"/>
              <a:t>RESULTS </a:t>
            </a:r>
            <a:endParaRPr lang="en-IN" dirty="0"/>
          </a:p>
        </p:txBody>
      </p:sp>
      <p:sp>
        <p:nvSpPr>
          <p:cNvPr id="7" name="Text Placeholder 30">
            <a:extLst>
              <a:ext uri="{FF2B5EF4-FFF2-40B4-BE49-F238E27FC236}">
                <a16:creationId xmlns:a16="http://schemas.microsoft.com/office/drawing/2014/main" id="{5C427123-4912-2573-7DC0-A2C4A58482EE}"/>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1EBA9E-C408-9385-DB8A-328A5CABCEAB}"/>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1374492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0343C559-A30C-01E1-693E-D67DACCE27DD}"/>
              </a:ext>
            </a:extLst>
          </p:cNvPr>
          <p:cNvSpPr txBox="1"/>
          <p:nvPr/>
        </p:nvSpPr>
        <p:spPr>
          <a:xfrm>
            <a:off x="746449" y="1350431"/>
            <a:ext cx="6811347" cy="4247317"/>
          </a:xfrm>
          <a:prstGeom prst="rect">
            <a:avLst/>
          </a:prstGeom>
          <a:noFill/>
        </p:spPr>
        <p:txBody>
          <a:bodyPr wrap="square" rtlCol="0">
            <a:spAutoFit/>
          </a:bodyPr>
          <a:lstStyle/>
          <a:p>
            <a:pPr marL="285750" lvl="0" indent="-285750">
              <a:buFont typeface="Wingdings" panose="05000000000000000000" pitchFamily="2" charset="2"/>
              <a:buChar char="§"/>
            </a:pPr>
            <a:r>
              <a:rPr lang="en-IN" dirty="0"/>
              <a:t>Develop predictive models to forecast agricultural performance for upcoming seasons.</a:t>
            </a:r>
          </a:p>
          <a:p>
            <a:pPr marL="285750" lvl="0" indent="-285750">
              <a:buFont typeface="Wingdings" panose="05000000000000000000" pitchFamily="2" charset="2"/>
              <a:buChar char="§"/>
            </a:pPr>
            <a:r>
              <a:rPr lang="en-IN" dirty="0"/>
              <a:t>Integrate real-time weather and environmental data for more accurate analysis.</a:t>
            </a:r>
          </a:p>
          <a:p>
            <a:pPr marL="285750" lvl="0" indent="-285750">
              <a:buFont typeface="Wingdings" panose="05000000000000000000" pitchFamily="2" charset="2"/>
              <a:buChar char="§"/>
            </a:pPr>
            <a:r>
              <a:rPr lang="en-IN" dirty="0"/>
              <a:t>Extend the analysis to more regions, crops, and agricultural categories.</a:t>
            </a:r>
          </a:p>
          <a:p>
            <a:pPr marL="285750" lvl="0" indent="-285750">
              <a:buFont typeface="Wingdings" panose="05000000000000000000" pitchFamily="2" charset="2"/>
              <a:buChar char="§"/>
            </a:pPr>
            <a:r>
              <a:rPr lang="en-IN" dirty="0"/>
              <a:t>Build interactive dashboards to help users monitor seasonal agricultural trends.</a:t>
            </a:r>
          </a:p>
          <a:p>
            <a:pPr marL="285750" lvl="0" indent="-285750">
              <a:buFont typeface="Wingdings" panose="05000000000000000000" pitchFamily="2" charset="2"/>
              <a:buChar char="§"/>
            </a:pPr>
            <a:r>
              <a:rPr lang="en-IN" dirty="0" err="1"/>
              <a:t>Analyze</a:t>
            </a:r>
            <a:r>
              <a:rPr lang="en-IN" dirty="0"/>
              <a:t> market and economic factors to understand their impact on agricultural outcomes.</a:t>
            </a:r>
          </a:p>
          <a:p>
            <a:pPr marL="285750" lvl="0" indent="-285750">
              <a:buFont typeface="Wingdings" panose="05000000000000000000" pitchFamily="2" charset="2"/>
              <a:buChar char="§"/>
            </a:pPr>
            <a:r>
              <a:rPr lang="en-IN" dirty="0"/>
              <a:t>Use advanced machine learning techniques to identify complex patterns and relationships.</a:t>
            </a:r>
          </a:p>
          <a:p>
            <a:pPr marL="285750" lvl="0" indent="-285750">
              <a:buFont typeface="Wingdings" panose="05000000000000000000" pitchFamily="2" charset="2"/>
              <a:buChar char="§"/>
            </a:pPr>
            <a:r>
              <a:rPr lang="en-IN" dirty="0"/>
              <a:t>Provide data-driven recommendations to support better seasonal agricultural planning.</a:t>
            </a:r>
          </a:p>
          <a:p>
            <a:pPr marL="285750" indent="-285750">
              <a:buFont typeface="Wingdings" panose="05000000000000000000" pitchFamily="2" charset="2"/>
              <a:buChar char="§"/>
            </a:pPr>
            <a:endParaRPr lang="en-IN"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C1054A38-381E-81B5-F799-0CEAA046E62C}"/>
              </a:ext>
            </a:extLst>
          </p:cNvPr>
          <p:cNvSpPr txBox="1"/>
          <p:nvPr/>
        </p:nvSpPr>
        <p:spPr>
          <a:xfrm>
            <a:off x="1838632" y="2723535"/>
            <a:ext cx="6105833" cy="369332"/>
          </a:xfrm>
          <a:prstGeom prst="rect">
            <a:avLst/>
          </a:prstGeom>
          <a:noFill/>
        </p:spPr>
        <p:txBody>
          <a:bodyPr wrap="square" rtlCol="0">
            <a:spAutoFit/>
          </a:bodyPr>
          <a:lstStyle/>
          <a:p>
            <a:r>
              <a:rPr lang="en-US" dirty="0">
                <a:hlinkClick r:id="rId3"/>
              </a:rPr>
              <a:t>Seasonal Agriculture Performance Analysis</a:t>
            </a:r>
            <a:endParaRPr lang="en-IN"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graphicFrame>
        <p:nvGraphicFramePr>
          <p:cNvPr id="2" name="Object 1">
            <a:extLst>
              <a:ext uri="{FF2B5EF4-FFF2-40B4-BE49-F238E27FC236}">
                <a16:creationId xmlns:a16="http://schemas.microsoft.com/office/drawing/2014/main" id="{CAEB1727-BC20-34F4-A4B7-95EFB382E5F5}"/>
              </a:ext>
            </a:extLst>
          </p:cNvPr>
          <p:cNvGraphicFramePr>
            <a:graphicFrameLocks noChangeAspect="1"/>
          </p:cNvGraphicFramePr>
          <p:nvPr>
            <p:extLst>
              <p:ext uri="{D42A27DB-BD31-4B8C-83A1-F6EECF244321}">
                <p14:modId xmlns:p14="http://schemas.microsoft.com/office/powerpoint/2010/main" val="4044188075"/>
              </p:ext>
            </p:extLst>
          </p:nvPr>
        </p:nvGraphicFramePr>
        <p:xfrm>
          <a:off x="1155699" y="2248679"/>
          <a:ext cx="7804509" cy="3191068"/>
        </p:xfrm>
        <a:graphic>
          <a:graphicData uri="http://schemas.openxmlformats.org/presentationml/2006/ole">
            <mc:AlternateContent xmlns:mc="http://schemas.openxmlformats.org/markup-compatibility/2006">
              <mc:Choice xmlns:v="urn:schemas-microsoft-com:vml" Requires="v">
                <p:oleObj name="Packager Shell Object" showAsIcon="1" r:id="rId3" imgW="2590942" imgH="517956" progId="Package">
                  <p:embed/>
                </p:oleObj>
              </mc:Choice>
              <mc:Fallback>
                <p:oleObj name="Packager Shell Object" showAsIcon="1" r:id="rId3" imgW="2590942" imgH="517956" progId="Package">
                  <p:embed/>
                  <p:pic>
                    <p:nvPicPr>
                      <p:cNvPr id="0" name=""/>
                      <p:cNvPicPr/>
                      <p:nvPr/>
                    </p:nvPicPr>
                    <p:blipFill>
                      <a:blip r:embed="rId4"/>
                      <a:stretch>
                        <a:fillRect/>
                      </a:stretch>
                    </p:blipFill>
                    <p:spPr>
                      <a:xfrm>
                        <a:off x="1155699" y="2248679"/>
                        <a:ext cx="7804509" cy="3191068"/>
                      </a:xfrm>
                      <a:prstGeom prst="rect">
                        <a:avLst/>
                      </a:prstGeom>
                    </p:spPr>
                  </p:pic>
                </p:oleObj>
              </mc:Fallback>
            </mc:AlternateContent>
          </a:graphicData>
        </a:graphic>
      </p:graphicFrame>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301372" y="2142999"/>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686</TotalTime>
  <Words>1151</Words>
  <Application>Microsoft Office PowerPoint</Application>
  <PresentationFormat>Widescreen</PresentationFormat>
  <Paragraphs>78</Paragraphs>
  <Slides>16</Slides>
  <Notes>1</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16</vt:i4>
      </vt:variant>
    </vt:vector>
  </HeadingPairs>
  <TitlesOfParts>
    <vt:vector size="23" baseType="lpstr">
      <vt:lpstr>Arial</vt:lpstr>
      <vt:lpstr>Calibri</vt:lpstr>
      <vt:lpstr>Trebuchet MS</vt:lpstr>
      <vt:lpstr>Wingdings</vt:lpstr>
      <vt:lpstr>Wingdings 3</vt:lpstr>
      <vt:lpstr>Facet</vt:lpstr>
      <vt:lpstr>Packager Shell Object</vt:lpstr>
      <vt:lpstr>Project Title –Seasonal Agriculture Performance Analysis</vt:lpstr>
      <vt:lpstr>PROBLEM  STATEMENT</vt:lpstr>
      <vt:lpstr>Project Description  </vt:lpstr>
      <vt:lpstr>WHO ARE THE END USERS?</vt:lpstr>
      <vt:lpstr>Technology Used</vt:lpstr>
      <vt:lpstr>RESULTS </vt:lpstr>
      <vt:lpstr>RESULTS </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Abhilash Polavarapu</cp:lastModifiedBy>
  <cp:revision>101</cp:revision>
  <dcterms:created xsi:type="dcterms:W3CDTF">2021-07-11T13:13:15Z</dcterms:created>
  <dcterms:modified xsi:type="dcterms:W3CDTF">2026-09-10T12:25:57Z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